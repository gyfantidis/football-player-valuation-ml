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7772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Predictive Modelling &amp;
Archetype Discovery for
Football Player 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94F37"/>
                </a:solidFill>
              </a:rPr>
              <a:t>A Comparative ML Study  |  DAMA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63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8E8"/>
                </a:solidFill>
              </a:rPr>
              <a:t>Dataset: FIFA Player Performance &amp; Market Value  (n = 2,800)
Tasks: Regression  ·  Classification  ·  Clustering  ·  Interpretability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1371600"/>
            <a:ext cx="2560320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1463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37"/>
                </a:solidFill>
              </a:rPr>
              <a:t>Players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1874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2,800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926080"/>
            <a:ext cx="2560320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3017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37"/>
                </a:solidFill>
              </a:rPr>
              <a:t>ML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3429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4480560"/>
            <a:ext cx="2560320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4572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37"/>
                </a:solidFill>
              </a:rPr>
              <a:t>Best R²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4983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R² 0.958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8D8E8"/>
                </a:solidFill>
              </a:rPr>
              <a:t>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94F37"/>
                </a:solidFill>
              </a:rPr>
              <a:t>Problem &amp;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6400800" cy="36576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0352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94F37"/>
                </a:solidFill>
              </a:rPr>
              <a:t>Research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C8D8E8"/>
                </a:solidFill>
              </a:rPr>
              <a:t>RQ1  Can supervised models predict player market value?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8D8E8"/>
                </a:solidFill>
              </a:rPr>
              <a:t>RQ2  Can classifiers identify transfer risk level?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8D8E8"/>
                </a:solidFill>
              </a:rPr>
              <a:t>RQ3  Do performance features reveal player archetypes?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4864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188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94F37"/>
                </a:solidFill>
              </a:rPr>
              <a:t>Dataset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C8D8E8"/>
                </a:solidFill>
              </a:rPr>
              <a:t>age, overall_rating, potential_rating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8D8E8"/>
                </a:solidFill>
              </a:rPr>
              <a:t>goals, assists, minutes_played, matches_played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8D8E8"/>
                </a:solidFill>
              </a:rPr>
              <a:t>contract_years_left, injury_prone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C8D8E8"/>
                </a:solidFill>
              </a:rPr>
              <a:t>position (9), nationality (8), club (7)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1124712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37"/>
                </a:solidFill>
              </a:rPr>
              <a:t>market_value_million_eur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3375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8E8"/>
                </a:solidFill>
              </a:rPr>
              <a:t>Regression target  |  €0.7M – €180M  |  mean €90.6M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1124712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37"/>
                </a:solidFill>
              </a:rPr>
              <a:t>transfer_risk_level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3434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8E8"/>
                </a:solidFill>
              </a:rPr>
              <a:t>Classification target  |  Low 44.6%  ·  Medium 35.4%  ·  High 20.0%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03520"/>
            <a:ext cx="11247120" cy="822960"/>
          </a:xfrm>
          <a:prstGeom prst="rect">
            <a:avLst/>
          </a:prstGeom>
          <a:solidFill>
            <a:srgbClr val="1A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37"/>
                </a:solidFill>
              </a:rPr>
              <a:t>FIFA Performance Value 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3492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8E8"/>
                </a:solidFill>
              </a:rPr>
              <a:t>Constructed target (primary regression)  |  €0.5M – €181M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8D8E8"/>
                </a:solidFill>
              </a:rPr>
              <a:t>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94F37"/>
                </a:solidFill>
              </a:rPr>
              <a:t>EDA: A Critical Data Finding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137160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9C12"/>
                </a:solidFill>
              </a:rPr>
              <a:t>⚠  market_value_million_eur is uncorrelated with ALL features  (|r| &lt; 0.03 for every variable)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8E8"/>
                </a:solidFill>
              </a:rPr>
              <a:t>With n=2,800, the 95% CI on a zero correlation is ±0.037 — every feature lies within this band.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3429000" cy="45720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37"/>
                </a:solidFill>
              </a:rPr>
              <a:t>Feature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606040"/>
            <a:ext cx="3886200" cy="45720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6517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37"/>
                </a:solidFill>
              </a:rPr>
              <a:t>|r| with market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606040"/>
            <a:ext cx="3429000" cy="45720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651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37"/>
                </a:solidFill>
              </a:rPr>
              <a:t>Interpretation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63240"/>
            <a:ext cx="34290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overall_rating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3063240"/>
            <a:ext cx="38862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31089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0.013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063240"/>
            <a:ext cx="34290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</a:rPr>
              <a:t>No signal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20440"/>
            <a:ext cx="3429000" cy="4114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3520440"/>
            <a:ext cx="3886200" cy="4114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35661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0.014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520440"/>
            <a:ext cx="3429000" cy="4114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566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</a:rPr>
              <a:t>No signal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77640"/>
            <a:ext cx="34290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23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goals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3977640"/>
            <a:ext cx="38862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40233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0.022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977640"/>
            <a:ext cx="34290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023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</a:rPr>
              <a:t>No signal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434840"/>
            <a:ext cx="3429000" cy="4114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480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potential_rating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4434840"/>
            <a:ext cx="3886200" cy="4114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44805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0.006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434840"/>
            <a:ext cx="3429000" cy="4114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4480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</a:rPr>
              <a:t>No signal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892040"/>
            <a:ext cx="34290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937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contract_years_left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4892040"/>
            <a:ext cx="38862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49377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0.012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4892040"/>
            <a:ext cx="34290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4937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</a:rPr>
              <a:t>No signal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solidFill>
            <a:srgbClr val="10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→  Synthetic dataset with randomly assigned market values.  We document this finding and define a domain-informed FIFA Performance Value Index (FPVI) as primary target.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8D8E8"/>
                </a:solidFill>
              </a:rPr>
              <a:t>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94F37"/>
                </a:solidFill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874519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6001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4F37"/>
                </a:solidFill>
              </a:rPr>
              <a:t>1 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60019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2,800 players · 13 raw features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9 positions · 8 nations · 7 clubs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5999" y="1005840"/>
            <a:ext cx="1874519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59" y="1097280"/>
            <a:ext cx="16001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4F37"/>
                </a:solidFill>
              </a:rPr>
              <a:t>2 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59" y="1508760"/>
            <a:ext cx="160019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goals/assists per 90 (clipped)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rating_gap · age_rating_ratio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expiring_soon · position_group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FPVI target construction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38" y="1005840"/>
            <a:ext cx="1874519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8" y="1097280"/>
            <a:ext cx="16001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4F37"/>
                </a:solidFill>
              </a:rPr>
              <a:t>3 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8" y="1508760"/>
            <a:ext cx="160019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Ordinal + one-hot encoding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StandardScaler (linear models)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70 / 15 / 15 stratified split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77" y="1005840"/>
            <a:ext cx="1874519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37" y="1097280"/>
            <a:ext cx="16001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4F37"/>
                </a:solidFill>
              </a:rPr>
              <a:t>4 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37" y="1508760"/>
            <a:ext cx="160019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Ridge  ·  Random Forest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Gradient Boosting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XGBoost  ·  LightGBM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Logistic Regression (cls)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6" y="1005840"/>
            <a:ext cx="1874519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6" y="1097280"/>
            <a:ext cx="16001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4F37"/>
                </a:solidFill>
              </a:rPr>
              <a:t>5  Explain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6" y="1508760"/>
            <a:ext cx="160019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SHAP TreeExplainer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Global beeswarm + bar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Local waterfall plots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Dependence plots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5" y="1005840"/>
            <a:ext cx="1874519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15" y="1097280"/>
            <a:ext cx="160019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4F37"/>
                </a:solidFill>
              </a:rPr>
              <a:t>6  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15" y="1508760"/>
            <a:ext cx="160019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K-Means + silhouette k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PCA 2D projection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8D8E8"/>
                </a:solidFill>
              </a:rPr>
              <a:t>Radar profile charts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21991" y="33832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2230" y="33832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2469" y="33832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2708" y="33832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47" y="33832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4F37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8D8E8"/>
                </a:solidFill>
              </a:rPr>
              <a:t>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94F37"/>
                </a:solidFill>
              </a:rPr>
              <a:t>FIFA Performance Value Index (FPVI)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2194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age_factor  =  exp( −0.08 × max(0, age − 26)² )   clipped [0.1, 1.0]
FPVI  =  rating_norm × 100 × age_factor
       + pot_gap × 1.2 × age_factor
       + goals_per_90 × 8  +  assists_per_90 × 5  +  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83280"/>
            <a:ext cx="361188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383280"/>
            <a:ext cx="361188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Quality × Age Prime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690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8E8"/>
                </a:solidFill>
              </a:rPr>
              <a:t>Rating decays exponentially after age 26.
Peak contribution at age 24–27.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3383280"/>
            <a:ext cx="361188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3383280"/>
            <a:ext cx="3611880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3474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9C12"/>
                </a:solidFill>
              </a:rPr>
              <a:t>Development Upside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0690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8E8"/>
                </a:solidFill>
              </a:rPr>
              <a:t>Young players with high potential gap
(potential − overall) earn a premium.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383280"/>
            <a:ext cx="361188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3383280"/>
            <a:ext cx="3611880" cy="109728"/>
          </a:xfrm>
          <a:prstGeom prst="rect">
            <a:avLst/>
          </a:prstGeom>
          <a:solidFill>
            <a:srgbClr val="5D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474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DADFF"/>
                </a:solidFill>
              </a:rPr>
              <a:t>On-pitch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0690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8E8"/>
                </a:solidFill>
              </a:rPr>
              <a:t>Goals and assists per 90 min add
incremental value above base rating.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8E8"/>
                </a:solidFill>
              </a:rPr>
              <a:t>±10% Gaussian noise injected to prevent trivial learning   |   Range: €0.5M – €181M   |   Mean: €48.9M   |   Std: €34.2M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8D8E8"/>
                </a:solidFill>
              </a:rPr>
              <a:t>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94F37"/>
                </a:solidFill>
              </a:rPr>
              <a:t>Regression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</a:rPr>
              <a:t>Task A — Original Market Value (Negative Control)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148840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17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371600"/>
            <a:ext cx="960120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4173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RMSE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371600"/>
            <a:ext cx="777240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13632" y="14173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MAE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371600"/>
            <a:ext cx="868680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1417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R²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783080"/>
            <a:ext cx="214884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Ridge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783080"/>
            <a:ext cx="96012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6352" y="1828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54.6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1783080"/>
            <a:ext cx="77724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1828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45.4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1783080"/>
            <a:ext cx="86868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8032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060"/>
                </a:solidFill>
              </a:rPr>
              <a:t>−0.200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221992"/>
            <a:ext cx="2148840" cy="39319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2677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221992"/>
            <a:ext cx="960120" cy="39319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6352" y="22677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55.2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2221992"/>
            <a:ext cx="777240" cy="39319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22677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45.6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2221992"/>
            <a:ext cx="868680" cy="39319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22677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060"/>
                </a:solidFill>
              </a:rPr>
              <a:t>−0.226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660904"/>
            <a:ext cx="214884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70662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Gradient Boosting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2660904"/>
            <a:ext cx="96012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16352" y="27066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56.9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660904"/>
            <a:ext cx="77724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3632" y="270662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2660904"/>
            <a:ext cx="86868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28032" y="270662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060"/>
                </a:solidFill>
              </a:rPr>
              <a:t>−0.300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099816"/>
            <a:ext cx="2148840" cy="39319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31455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099816"/>
            <a:ext cx="960120" cy="39319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52" y="314553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57.6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0" y="3099816"/>
            <a:ext cx="777240" cy="39319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13632" y="314553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47.1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0" y="3099816"/>
            <a:ext cx="868680" cy="39319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28032" y="314553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060"/>
                </a:solidFill>
              </a:rPr>
              <a:t>−0.335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538728"/>
            <a:ext cx="214884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35844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3538728"/>
            <a:ext cx="96012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16352" y="35844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57.9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3538728"/>
            <a:ext cx="77724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13632" y="35844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47.4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3538728"/>
            <a:ext cx="86868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28032" y="35844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060"/>
                </a:solidFill>
              </a:rPr>
              <a:t>−0.349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069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8888"/>
                </a:solidFill>
              </a:rPr>
              <a:t>→ All R² &lt; 0  confirms no signal in target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Task B — FIFA Performance Index  (Primary)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1371600"/>
            <a:ext cx="2148840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82512" y="1417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Model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95360" y="1371600"/>
            <a:ext cx="868680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68512" y="1417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RMSE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46920" y="1371600"/>
            <a:ext cx="822960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20072" y="141732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MAE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07040" y="1371600"/>
            <a:ext cx="960120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80192" y="14173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R²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1783080"/>
            <a:ext cx="2148840" cy="393192"/>
          </a:xfrm>
          <a:prstGeom prst="rect">
            <a:avLst/>
          </a:prstGeom>
          <a:solidFill>
            <a:srgbClr val="0D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82512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LightGBM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95360" y="1783080"/>
            <a:ext cx="868680" cy="393192"/>
          </a:xfrm>
          <a:prstGeom prst="rect">
            <a:avLst/>
          </a:prstGeom>
          <a:solidFill>
            <a:srgbClr val="0D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68512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6.87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46920" y="1783080"/>
            <a:ext cx="822960" cy="393192"/>
          </a:xfrm>
          <a:prstGeom prst="rect">
            <a:avLst/>
          </a:prstGeom>
          <a:solidFill>
            <a:srgbClr val="0D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20072" y="182880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4.49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607040" y="1783080"/>
            <a:ext cx="960120" cy="393192"/>
          </a:xfrm>
          <a:prstGeom prst="rect">
            <a:avLst/>
          </a:prstGeom>
          <a:solidFill>
            <a:srgbClr val="0D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80192" y="1828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0.958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2221992"/>
            <a:ext cx="2148840" cy="39319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82512" y="22677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95360" y="2221992"/>
            <a:ext cx="868680" cy="39319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68512" y="22677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6.96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46920" y="2221992"/>
            <a:ext cx="822960" cy="39319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20072" y="226771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4.48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607040" y="2221992"/>
            <a:ext cx="960120" cy="39319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680192" y="22677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0.957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09360" y="2660904"/>
            <a:ext cx="214884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82512" y="270662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Gradient Boosting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95360" y="2660904"/>
            <a:ext cx="86868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68512" y="270662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7.04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46920" y="2660904"/>
            <a:ext cx="82296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720072" y="2706624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4.55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607040" y="2660904"/>
            <a:ext cx="96012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680192" y="27066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0.956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09360" y="3099816"/>
            <a:ext cx="2148840" cy="39319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82512" y="31455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95360" y="3099816"/>
            <a:ext cx="868680" cy="39319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668512" y="314553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9.81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46920" y="3099816"/>
            <a:ext cx="822960" cy="39319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20072" y="3145536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6.30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607040" y="3099816"/>
            <a:ext cx="960120" cy="393192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680192" y="314553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0.915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309360" y="3538728"/>
            <a:ext cx="214884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82512" y="35844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Ridge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595360" y="3538728"/>
            <a:ext cx="86868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668512" y="35844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20.4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646920" y="3538728"/>
            <a:ext cx="82296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720072" y="35844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13.8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607040" y="3538728"/>
            <a:ext cx="960120" cy="3931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680192" y="35844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0.631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309360" y="4069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★  LightGBM  R² = 0.958  |  5-fold CV R² = 0.968 ± 0.007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" y="4663440"/>
            <a:ext cx="11247120" cy="914400"/>
          </a:xfrm>
          <a:prstGeom prst="rect">
            <a:avLst/>
          </a:prstGeom>
          <a:solidFill>
            <a:srgbClr val="10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0080" y="473659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8E8"/>
                </a:solidFill>
              </a:rPr>
              <a:t>Non-linearity matters:  Ridge R² = 0.63  vs  LightGBM R² = 0.96 — the age × rating interaction cannot be captured by a linear model without explicit feature crosses.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8D8E8"/>
                </a:solidFill>
              </a:rPr>
              <a:t>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94F37"/>
                </a:solidFill>
              </a:rPr>
              <a:t>Model Interpretability — SHAP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3840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4F37"/>
                </a:solidFill>
              </a:rPr>
              <a:t>Top Features (mean |SHAP|)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5212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C8D8E8"/>
                </a:solidFill>
              </a:rPr>
              <a:t>1.  age_rating_ratio — dominant driver; age × quality interaction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8D8E8"/>
                </a:solidFill>
              </a:rPr>
              <a:t>2.  overall_rating — monotone positive; steeper above rating 80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8D8E8"/>
                </a:solidFill>
              </a:rPr>
              <a:t>3.  age — non-linear peak at 24–27, sharp decay after 30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8D8E8"/>
                </a:solidFill>
              </a:rPr>
              <a:t>4.  rating_x_potential — interaction captured by boosted trees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8D8E8"/>
                </a:solidFill>
              </a:rPr>
              <a:t>5.  goals_per_90 — primary production-rate 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00" cy="3840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097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4F37"/>
                </a:solidFill>
              </a:rPr>
              <a:t>Dependence Plots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508760"/>
            <a:ext cx="5212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C8D8E8"/>
                </a:solidFill>
              </a:rPr>
              <a:t>age_rating_ratio: smooth monotone increase — validates formula design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8D8E8"/>
                </a:solidFill>
              </a:rPr>
              <a:t>overall_rating: non-linear; elbow near rating 78–80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8D8E8"/>
                </a:solidFill>
              </a:rPr>
              <a:t>Interaction colour shows age modulates rating SHAP values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8D8E8"/>
                </a:solidFill>
              </a:rPr>
              <a:t>Younger high-rated players receive the largest positive SHAP push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983480"/>
            <a:ext cx="5303520" cy="1005840"/>
          </a:xfrm>
          <a:prstGeom prst="rect">
            <a:avLst/>
          </a:prstGeom>
          <a:solidFill>
            <a:srgbClr val="0D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High-FPVI Player (waterfall)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E8"/>
                </a:solidFill>
              </a:rPr>
              <a:t>High age_rating_ratio + high rating + strong goals_per_90
→  prediction +4.8 log-points above 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4983480"/>
            <a:ext cx="5303520" cy="100584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5029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Low-FPVI Player (waterfall)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3949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E8"/>
                </a:solidFill>
              </a:rPr>
              <a:t>Low overall rating + advanced age
→  prediction pushed sharply below 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8D8E8"/>
                </a:solidFill>
              </a:rPr>
              <a:t>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94F37"/>
                </a:solidFill>
              </a:rPr>
              <a:t>Transfer Risk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39C12"/>
                </a:solidFill>
              </a:rPr>
              <a:t>Majority-class baseline: 45.2%  (Low risk)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20440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17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37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371600"/>
            <a:ext cx="1965960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7952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37"/>
                </a:solidFill>
              </a:rP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2057400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417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37"/>
                </a:solidFill>
              </a:rPr>
              <a:t>Macro 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371600"/>
            <a:ext cx="2148840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417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F37"/>
                </a:solidFill>
              </a:rPr>
              <a:t>ROC-AUC (OvR)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783080"/>
            <a:ext cx="352044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8288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1783080"/>
            <a:ext cx="196596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7952" y="1828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45.2%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783080"/>
            <a:ext cx="205740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0.297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783080"/>
            <a:ext cx="214884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0.522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258568"/>
            <a:ext cx="3520440" cy="42976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3042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2258568"/>
            <a:ext cx="1965960" cy="42976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87952" y="23042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45.0%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258568"/>
            <a:ext cx="2057400" cy="42976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3042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0.316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258568"/>
            <a:ext cx="2148840" cy="42976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5632" y="23042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0.548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734056"/>
            <a:ext cx="352044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7797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2734056"/>
            <a:ext cx="196596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87952" y="27797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41.9%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734056"/>
            <a:ext cx="205740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27797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0.353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2734056"/>
            <a:ext cx="2148840" cy="429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5632" y="27797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0.542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209544"/>
            <a:ext cx="3520440" cy="42976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32552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3209544"/>
            <a:ext cx="1965960" cy="42976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87952" y="32552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41.9%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209544"/>
            <a:ext cx="2057400" cy="42976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32552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0.376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3209544"/>
            <a:ext cx="2148840" cy="429768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85632" y="325526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0.544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840480"/>
            <a:ext cx="1124712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3931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4F37"/>
                </a:solidFill>
              </a:rPr>
              <a:t>Interpretation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4343400"/>
            <a:ext cx="10972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C8D8E8"/>
                </a:solidFill>
              </a:rPr>
              <a:t>All models perform near the majority-class baseline (45%)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8D8E8"/>
                </a:solidFill>
              </a:rPr>
              <a:t>ROC-AUC barely above 0.5 — consistent with randomly assigned labels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8D8E8"/>
                </a:solidFill>
              </a:rPr>
              <a:t>LightGBM achieves best Macro F1 (0.376) — detects weak non-linear patterns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8D8E8"/>
                </a:solidFill>
              </a:rPr>
              <a:t>SHAP still provides domain-consistent insights despite low accuracy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8D8E8"/>
                </a:solidFill>
              </a:rPr>
              <a:t>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94F37"/>
                </a:solidFill>
              </a:rPr>
              <a:t>Player Archetype Discovery — K-Means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11480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94F37"/>
                </a:solidFill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8404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C8D8E8"/>
                </a:solidFill>
              </a:rPr>
              <a:t>K-Means on 10 performance features (standardised)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8D8E8"/>
                </a:solidFill>
              </a:rPr>
              <a:t>k selected by silhouette coefficient over k ∈ {2, …, 8}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8D8E8"/>
                </a:solidFill>
              </a:rPr>
              <a:t>Optimal k = 2  (silhouette = 0.42)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C8D8E8"/>
                </a:solidFill>
              </a:rPr>
              <a:t>Visualised with PCA 2D projection + radar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0058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4F37"/>
                </a:solidFill>
              </a:rPr>
              <a:t>Recovered Archetypes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463040"/>
            <a:ext cx="1746504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50876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F37"/>
                </a:solidFill>
              </a:rPr>
              <a:t>Archetype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1463040"/>
            <a:ext cx="649224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5087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F37"/>
                </a:solidFill>
              </a:rPr>
              <a:t>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463040"/>
            <a:ext cx="649224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5087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F37"/>
                </a:solidFill>
              </a:rPr>
              <a:t>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463040"/>
            <a:ext cx="649224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15087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F37"/>
                </a:solidFill>
              </a:rPr>
              <a:t>Rating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1463040"/>
            <a:ext cx="649224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50876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F37"/>
                </a:solidFill>
              </a:rPr>
              <a:t>G/90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463040"/>
            <a:ext cx="694944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508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F37"/>
                </a:solidFill>
              </a:rPr>
              <a:t>A/90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24160" y="1463040"/>
            <a:ext cx="969264" cy="411480"/>
          </a:xfrm>
          <a:prstGeom prst="rect">
            <a:avLst/>
          </a:prstGeom>
          <a:solidFill>
            <a:srgbClr val="1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69880" y="15087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F37"/>
                </a:solidFill>
              </a:rPr>
              <a:t>FPVI (M€)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1874519"/>
            <a:ext cx="1746504" cy="457200"/>
          </a:xfrm>
          <a:prstGeom prst="rect">
            <a:avLst/>
          </a:prstGeom>
          <a:solidFill>
            <a:srgbClr val="1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1929383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Elite Players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874519"/>
            <a:ext cx="649224" cy="457200"/>
          </a:xfrm>
          <a:prstGeom prst="rect">
            <a:avLst/>
          </a:prstGeom>
          <a:solidFill>
            <a:srgbClr val="1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929383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2,229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1874519"/>
            <a:ext cx="649224" cy="457200"/>
          </a:xfrm>
          <a:prstGeom prst="rect">
            <a:avLst/>
          </a:prstGeom>
          <a:solidFill>
            <a:srgbClr val="1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1929383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28.1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1874519"/>
            <a:ext cx="649224" cy="457200"/>
          </a:xfrm>
          <a:prstGeom prst="rect">
            <a:avLst/>
          </a:prstGeom>
          <a:solidFill>
            <a:srgbClr val="1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9" y="1929383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76.9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15400" y="1874519"/>
            <a:ext cx="649224" cy="457200"/>
          </a:xfrm>
          <a:prstGeom prst="rect">
            <a:avLst/>
          </a:prstGeom>
          <a:solidFill>
            <a:srgbClr val="1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1929383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0.70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46920" y="1874519"/>
            <a:ext cx="694944" cy="457200"/>
          </a:xfrm>
          <a:prstGeom prst="rect">
            <a:avLst/>
          </a:prstGeom>
          <a:solidFill>
            <a:srgbClr val="1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1929383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0.46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24160" y="1874519"/>
            <a:ext cx="969264" cy="457200"/>
          </a:xfrm>
          <a:prstGeom prst="rect">
            <a:avLst/>
          </a:prstGeom>
          <a:solidFill>
            <a:srgbClr val="10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69880" y="1929383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42.1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2377439"/>
            <a:ext cx="1746504" cy="457200"/>
          </a:xfrm>
          <a:prstGeom prst="rect">
            <a:avLst/>
          </a:prstGeom>
          <a:solidFill>
            <a:srgbClr val="10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92040" y="2432303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Goal Scorers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20840" y="2377439"/>
            <a:ext cx="649224" cy="457200"/>
          </a:xfrm>
          <a:prstGeom prst="rect">
            <a:avLst/>
          </a:prstGeom>
          <a:solidFill>
            <a:srgbClr val="10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2432303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571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52360" y="2377439"/>
            <a:ext cx="649224" cy="457200"/>
          </a:xfrm>
          <a:prstGeom prst="rect">
            <a:avLst/>
          </a:prstGeom>
          <a:solidFill>
            <a:srgbClr val="10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0" y="2432303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27.5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83879" y="2377439"/>
            <a:ext cx="649224" cy="457200"/>
          </a:xfrm>
          <a:prstGeom prst="rect">
            <a:avLst/>
          </a:prstGeom>
          <a:solidFill>
            <a:srgbClr val="10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9" y="2432303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76.9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15400" y="2377439"/>
            <a:ext cx="649224" cy="457200"/>
          </a:xfrm>
          <a:prstGeom prst="rect">
            <a:avLst/>
          </a:prstGeom>
          <a:solidFill>
            <a:srgbClr val="10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0" y="2432303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3.19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2377439"/>
            <a:ext cx="694944" cy="457200"/>
          </a:xfrm>
          <a:prstGeom prst="rect">
            <a:avLst/>
          </a:prstGeom>
          <a:solidFill>
            <a:srgbClr val="10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2432303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2.51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24160" y="2377439"/>
            <a:ext cx="969264" cy="457200"/>
          </a:xfrm>
          <a:prstGeom prst="rect">
            <a:avLst/>
          </a:prstGeom>
          <a:solidFill>
            <a:srgbClr val="10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69880" y="2432303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75.4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46320" y="2926080"/>
            <a:ext cx="6858000" cy="640080"/>
          </a:xfrm>
          <a:prstGeom prst="rect">
            <a:avLst/>
          </a:prstGeom>
          <a:solidFill>
            <a:srgbClr val="0D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0" y="2999232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Goal Scorers: 4.6× higher goals/90 · 5.5× higher assists/90 · +33 M€ FPVI premium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383280"/>
            <a:ext cx="1124712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3474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F37"/>
                </a:solidFill>
              </a:rPr>
              <a:t>Insights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3886200"/>
            <a:ext cx="10972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C8D8E8"/>
                </a:solidFill>
              </a:rPr>
              <a:t>K-Means recovers production-based archetypes without position labels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C8D8E8"/>
                </a:solidFill>
              </a:rPr>
              <a:t>Both clusters share similar age (27–28) and overall rating (~77)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C8D8E8"/>
                </a:solidFill>
              </a:rPr>
              <a:t>The differentiator is per-90 output — not raw ability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C8D8E8"/>
                </a:solidFill>
              </a:rPr>
              <a:t>FPVI gap of +33 M€ validates the production weighting in the formula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C8D8E8"/>
                </a:solidFill>
              </a:rPr>
              <a:t>PCA PC1 (18.3% variance) loads on per-90 stats — separates clusters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8D8E8"/>
                </a:solidFill>
              </a:rPr>
              <a:t>10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94F37"/>
                </a:solidFill>
              </a:rPr>
              <a:t>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48640" cy="1188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097280"/>
            <a:ext cx="1051560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143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Data Quality Diagnosis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00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8E8"/>
                </a:solidFill>
              </a:rPr>
              <a:t>EDA revealed near-zero feature–target correlations in the annotated market values.
Responsible ML practice: always verify label quality before modelling.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548640" cy="1188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560320"/>
            <a:ext cx="1051560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606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</a:rPr>
              <a:t>FPVI Regression  R² = 0.958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63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8E8"/>
                </a:solidFill>
              </a:rPr>
              <a:t>LightGBM &amp; XGBoost recover the domain-informed index with R² &gt; 0.95.
SHAP confirms the expected age-prime effect and rating non-linearity.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23360"/>
            <a:ext cx="548640" cy="1188720"/>
          </a:xfrm>
          <a:prstGeom prst="rect">
            <a:avLst/>
          </a:prstGeom>
          <a:solidFill>
            <a:srgbClr val="5D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023360"/>
            <a:ext cx="1051560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069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DADFF"/>
                </a:solidFill>
              </a:rPr>
              <a:t>Player Archetype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526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8E8"/>
                </a:solidFill>
              </a:rPr>
              <a:t>K-Means (k=2) identifies Elite Players vs Goal Scorers without position labels.
Goal Scorers command a +33 M€ FPVI premium driven by per-90 production.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577840"/>
            <a:ext cx="10515600" cy="777240"/>
          </a:xfrm>
          <a:prstGeom prst="rect">
            <a:avLst/>
          </a:prstGeom>
          <a:solidFill>
            <a:srgbClr val="1A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5099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F37"/>
                </a:solidFill>
              </a:rPr>
              <a:t>Future Work: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650992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E8"/>
                </a:solidFill>
              </a:rPr>
              <a:t>Real transfer-fee data (Transfermarkt)  ·  Time-series form trajectories  ·  Multimodal inputs (video stats)  ·  TabNet / attention-based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